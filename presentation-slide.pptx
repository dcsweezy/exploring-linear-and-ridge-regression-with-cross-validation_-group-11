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20"/>
  </p:notesMasterIdLst>
  <p:handoutMasterIdLst>
    <p:handoutMasterId r:id="rId21"/>
  </p:handoutMasterIdLst>
  <p:sldIdLst>
    <p:sldId id="410" r:id="rId5"/>
    <p:sldId id="383" r:id="rId6"/>
    <p:sldId id="391" r:id="rId7"/>
    <p:sldId id="408" r:id="rId8"/>
    <p:sldId id="412" r:id="rId9"/>
    <p:sldId id="411" r:id="rId10"/>
    <p:sldId id="406" r:id="rId11"/>
    <p:sldId id="413" r:id="rId12"/>
    <p:sldId id="404" r:id="rId13"/>
    <p:sldId id="417" r:id="rId14"/>
    <p:sldId id="414" r:id="rId15"/>
    <p:sldId id="415" r:id="rId16"/>
    <p:sldId id="403" r:id="rId17"/>
    <p:sldId id="416" r:id="rId18"/>
    <p:sldId id="398" r:id="rId19"/>
  </p:sldIdLst>
  <p:sldSz cx="12192000" cy="6858000"/>
  <p:notesSz cx="6858000" cy="9144000"/>
  <p:defaultTextStyle>
    <a:defPPr rtl="0">
      <a:defRPr lang="ja-JP"/>
    </a:defPPr>
    <a:lvl1pPr marL="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成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5273" autoAdjust="0"/>
  </p:normalViewPr>
  <p:slideViewPr>
    <p:cSldViewPr snapToGrid="0">
      <p:cViewPr>
        <p:scale>
          <a:sx n="74" d="100"/>
          <a:sy n="74" d="100"/>
        </p:scale>
        <p:origin x="370" y="5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97" d="100"/>
          <a:sy n="97" d="100"/>
        </p:scale>
        <p:origin x="286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ja-JP" sz="1200"/>
            </a:lvl1pPr>
          </a:lstStyle>
          <a:p>
            <a:pPr rtl="0"/>
            <a:fld id="{29A6D377-CE9F-42F4-9401-7CF08A855EE4}" type="datetime1">
              <a:rPr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t>2025/10/14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ja-JP" sz="1200"/>
            </a:lvl1pPr>
          </a:lstStyle>
          <a:p>
            <a:pPr rtl="0"/>
            <a:fld id="{E2C230DF-5933-439D-898F-38E9AC9BA688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‹#›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フッター プレースホルダー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ja-JP" sz="1200"/>
            </a:lvl1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ヘッダー プレースホルダー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ja-JP" sz="1200"/>
            </a:lvl1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>
              <a:ea typeface="Meiryo UI" panose="020B0604030504040204" pitchFamily="50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F0A38C37-4D1D-465C-9C93-03A26BBDD059}" type="datetime1">
              <a:rPr lang="ja-JP" altLang="en-US" smtClean="0">
                <a:ea typeface="Meiryo UI" panose="020B0604030504040204" pitchFamily="50" charset="-128"/>
              </a:rPr>
              <a:t>2025/10/14</a:t>
            </a:fld>
            <a:endParaRPr dirty="0">
              <a:ea typeface="Meiryo UI" panose="020B0604030504040204" pitchFamily="50" charset="-128"/>
            </a:endParaRPr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ja-JP"/>
            </a:defPPr>
          </a:lstStyle>
          <a:p>
            <a:pPr rtl="0"/>
            <a:endParaRPr lang="ja-JP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ja-JP"/>
            </a:defPPr>
          </a:lstStyle>
          <a:p>
            <a:pPr lvl="0" rtl="0"/>
            <a:r>
              <a:rPr lang="ja-JP" dirty="0"/>
              <a:t>クリックしてマスター テキストのスタイルを編集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>
              <a:ea typeface="Meiryo UI" panose="020B0604030504040204" pitchFamily="50" charset="-128"/>
            </a:endParaRPr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A89C7E07-3C67-C64C-8DA0-0404F6303970}" type="slidenum">
              <a:rPr lang="en-US" altLang="ja-JP" smtClean="0"/>
              <a:pPr/>
              <a:t>‹#›</a:t>
            </a:fld>
            <a:endParaRPr lang="en-US" altLang="en-US" dirty="0"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1pPr>
    <a:lvl2pPr marL="4572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2pPr>
    <a:lvl3pPr marL="9144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3pPr>
    <a:lvl4pPr marL="13716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4pPr>
    <a:lvl5pPr marL="18288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5pPr>
    <a:lvl6pPr marL="22860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6pPr>
    <a:lvl7pPr marL="27432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7pPr>
    <a:lvl8pPr marL="32004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8pPr>
    <a:lvl9pPr marL="36576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063F-43FA-D42E-2B2B-855C7150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3EF82DC-3588-3867-6288-C84DC143B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D8DBB00-8975-08C4-F7DF-2EABD92B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37F6BA-87F5-EC8D-3C32-758672754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2690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731A-2E68-F527-0ADB-7030293AC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891B7BB-CCCD-AD26-5ADD-A24F63EBB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9378C73-49B9-F695-3826-75007B448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43D180-0126-DE1C-1506-E19CBED90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13363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47593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30A40-BC8E-3EE1-AC2B-C580EA0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B4CBEEC-D061-14C9-87B0-09F92FE41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DCF3E3F-F374-3579-FB63-F588F10F7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A6ADF0E-4E67-2C3D-9732-6A2C1886D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30510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34596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257C5-3B8A-6594-97E8-B22801D0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84EF84E-DB97-319A-1685-8DF2B5F250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D761E8-D444-0141-D57C-4FFAE4C43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9CCDBAC-5AD1-161E-98C6-ABA21DCA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75084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B1069-4042-A6D6-12D4-119A4914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521B33F-D61F-BCD3-E5B3-045C8C96D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36CBAE5-10CF-9523-FABE-E1BD15EF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B130377-C4D9-BBAB-9CFF-67D2AEA06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42598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49302-ED3C-A5FE-A4E4-E8CCEA90C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CE609F-5648-852F-9C2C-C0F7DB895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7067C82-895C-90EF-A4E2-A5FC51A8E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508F85-8529-FABB-81F1-5F7383E89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88538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144881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909F-C414-5F54-FC3C-771E6FB3C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AEA702-CD55-A335-5BAB-560BA60C7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370FA5D-1805-A869-E41E-FA2F742E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C96F9C-E7A5-4969-814B-2F336C9D6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4106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A89C7E07-3C67-C64C-8DA0-0404F6303970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ja-JP" sz="6000" b="1" i="0" spc="1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grpSp>
        <p:nvGrpSpPr>
          <p:cNvPr id="9" name="グループ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フリーフォーム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リーフォーム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13" name="直線​​コネクタ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議題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オートシェイプ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フリーフォーム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フリーフォーム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フリーフォーム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リーフォーム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2" name="タイトル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 spc="50" baseline="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2" name="コンテンツ プレースホルダー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ja-JP" sz="2400" b="1" i="0" kern="1200" dirty="0">
                <a:solidFill>
                  <a:schemeClr val="tx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indent="-283464">
              <a:spcBef>
                <a:spcPts val="6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43" name="スライド番号プレースホルダー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42" name="日付プレースホルダー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のタイトル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ja-JP" sz="2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/>
              <a:t>アイコンをクリックして画像を追加</a:t>
            </a:r>
          </a:p>
        </p:txBody>
      </p:sp>
      <p:sp>
        <p:nvSpPr>
          <p:cNvPr id="18" name="タイトル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6000" b="1" i="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/>
              <a:t>クリックしてタイトルを追加 </a:t>
            </a:r>
          </a:p>
        </p:txBody>
      </p:sp>
      <p:sp>
        <p:nvSpPr>
          <p:cNvPr id="7" name="長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</a:lstStyle>
          <a:p>
            <a:pPr algn="ctr"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ja-JP" sz="6000" b="1" i="0" spc="1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6" name="図プレースホルダー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アイコンをクリックして画像を追加</a:t>
            </a:r>
          </a:p>
        </p:txBody>
      </p:sp>
      <p:sp>
        <p:nvSpPr>
          <p:cNvPr id="18" name="テキスト プレースホルダー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ja-JP" sz="2400" b="1" i="0">
                <a:solidFill>
                  <a:schemeClr val="tx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 lang="ja-JP" sz="4000"/>
            </a:lvl2pPr>
            <a:lvl3pPr>
              <a:defRPr lang="ja-JP" sz="4000"/>
            </a:lvl3pPr>
            <a:lvl4pPr>
              <a:defRPr lang="ja-JP" sz="4000"/>
            </a:lvl4pPr>
            <a:lvl5pPr>
              <a:defRPr lang="ja-JP" sz="4000"/>
            </a:lvl5pPr>
          </a:lstStyle>
          <a:p>
            <a:pPr lvl="0" rtl="0"/>
            <a:r>
              <a:rPr lang="ja-JP" altLang="en-US" noProof="0" dirty="0"/>
              <a:t>クリックしてテキストを追加</a:t>
            </a:r>
          </a:p>
        </p:txBody>
      </p:sp>
      <p:cxnSp>
        <p:nvCxnSpPr>
          <p:cNvPr id="7" name="直線​​コネクタ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概要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​​コネクタ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グループ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フリーフォーム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フリーフォーム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2" name="タイトル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2" name="コンテンツ プレースホルダー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​​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ja-JP" sz="6000" b="1" i="0" spc="1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grpSp>
        <p:nvGrpSpPr>
          <p:cNvPr id="9" name="グループ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フリーフォーム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リーフォーム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13" name="直線​​コネクタ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テキスト プレースホルダー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ja-JP" sz="2400" b="1" i="0">
                <a:solidFill>
                  <a:schemeClr val="tx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 lang="ja-JP" sz="4000"/>
            </a:lvl2pPr>
            <a:lvl3pPr>
              <a:defRPr lang="ja-JP" sz="4000"/>
            </a:lvl3pPr>
            <a:lvl4pPr>
              <a:defRPr lang="ja-JP" sz="4000"/>
            </a:lvl4pPr>
            <a:lvl5pPr>
              <a:defRPr lang="ja-JP" sz="4000"/>
            </a:lvl5pPr>
          </a:lstStyle>
          <a:p>
            <a:pPr lvl="0" rtl="0"/>
            <a:r>
              <a:rPr lang="ja-JP" altLang="en-US" noProof="0" dirty="0"/>
              <a:t>クリックしてテキストを追加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 2 段組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フリーフォーム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フリーフォーム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2" name="コンテンツ プレースホルダー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9436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2296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0584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4864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2296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0584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オートシェイプ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フリーフォーム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フリーフォーム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フリーフォーム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コンテンツ プレースホルダー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ja-JP" sz="2000"/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endParaRPr lang="ja-JP" altLang="en-US" noProof="0" dirty="0"/>
          </a:p>
        </p:txBody>
      </p:sp>
      <p:sp>
        <p:nvSpPr>
          <p:cNvPr id="2" name="コンテンツ プレースホルダー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4864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2296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05840"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、コンテンツ、画像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3" name="コンテンツ プレースホルダー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indent="-283464"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アイコンをクリックして画像を追加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、コンテンツ、表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フリーフォーム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フリーフォーム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フリーフォーム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コンテンツ プレースホルダー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1440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82880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spcBef>
                <a:spcPts val="6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 2 段組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フリーフォーム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フリーフォーム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spcBef>
                <a:spcPts val="6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7" name="コンテンツ プレースホルダー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>
              <a:spcBef>
                <a:spcPts val="1800"/>
              </a:spcBef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 dirty="0"/>
              <a:t>クリックしてコンテンツを追加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タイトル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ja-JP" sz="44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sp>
        <p:nvSpPr>
          <p:cNvPr id="9" name="表プレースホルダー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アイコンをクリックして表を追加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ja-JP"/>
            </a:defPPr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ja-JP" sz="6000" b="1" i="0" spc="1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クリックしてタイトルを追加 </a:t>
            </a:r>
          </a:p>
        </p:txBody>
      </p:sp>
      <p:grpSp>
        <p:nvGrpSpPr>
          <p:cNvPr id="9" name="グループ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フリーフォーム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リーフォーム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8" name="テキスト プレースホルダー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ja-JP" sz="2400" b="1" i="0">
                <a:solidFill>
                  <a:schemeClr val="tx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 lang="ja-JP" sz="4000"/>
            </a:lvl2pPr>
            <a:lvl3pPr>
              <a:defRPr lang="ja-JP" sz="4000"/>
            </a:lvl3pPr>
            <a:lvl4pPr>
              <a:defRPr lang="ja-JP" sz="4000"/>
            </a:lvl4pPr>
            <a:lvl5pPr>
              <a:defRPr lang="ja-JP" sz="4000"/>
            </a:lvl5pPr>
          </a:lstStyle>
          <a:p>
            <a:pPr lvl="0" rtl="0"/>
            <a:r>
              <a:rPr lang="ja-JP" altLang="en-US" noProof="0" dirty="0"/>
              <a:t>クリックしてテキストを追加</a:t>
            </a:r>
          </a:p>
        </p:txBody>
      </p:sp>
      <p:cxnSp>
        <p:nvCxnSpPr>
          <p:cNvPr id="4" name="直線​​コネクタ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ja-JP"/>
            </a:defPPr>
          </a:lstStyle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12" name="タイトル プレースホルダー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ja-JP"/>
            </a:defPPr>
          </a:lstStyle>
          <a:p>
            <a:pPr rtl="0"/>
            <a:r>
              <a:rPr lang="ja-JP" altLang="en-US" noProof="0" dirty="0"/>
              <a:t>マスター タイトルの書式設定</a:t>
            </a:r>
          </a:p>
        </p:txBody>
      </p:sp>
      <p:sp>
        <p:nvSpPr>
          <p:cNvPr id="30" name="日付プレースホルダー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ja-JP" sz="1100" b="0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2" name="スライド番号プレースホルダー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ja-JP" sz="1100" b="1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1" lang="ja-JP" sz="4400" b="1" i="0" kern="1200" spc="100" baseline="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  <a:lvl2pPr eaLnBrk="1" hangingPunct="1">
        <a:defRPr kumimoji="1" lang="ja-JP">
          <a:solidFill>
            <a:schemeClr val="tx2"/>
          </a:solidFill>
        </a:defRPr>
      </a:lvl2pPr>
      <a:lvl3pPr eaLnBrk="1" hangingPunct="1">
        <a:defRPr kumimoji="1" lang="ja-JP">
          <a:solidFill>
            <a:schemeClr val="tx2"/>
          </a:solidFill>
        </a:defRPr>
      </a:lvl3pPr>
      <a:lvl4pPr eaLnBrk="1" hangingPunct="1">
        <a:defRPr kumimoji="1" lang="ja-JP">
          <a:solidFill>
            <a:schemeClr val="tx2"/>
          </a:solidFill>
        </a:defRPr>
      </a:lvl4pPr>
      <a:lvl5pPr eaLnBrk="1" hangingPunct="1">
        <a:defRPr kumimoji="1" lang="ja-JP">
          <a:solidFill>
            <a:schemeClr val="tx2"/>
          </a:solidFill>
        </a:defRPr>
      </a:lvl5pPr>
      <a:lvl6pPr eaLnBrk="1" hangingPunct="1">
        <a:defRPr kumimoji="1" lang="ja-JP">
          <a:solidFill>
            <a:schemeClr val="tx2"/>
          </a:solidFill>
        </a:defRPr>
      </a:lvl6pPr>
      <a:lvl7pPr eaLnBrk="1" hangingPunct="1">
        <a:defRPr kumimoji="1" lang="ja-JP">
          <a:solidFill>
            <a:schemeClr val="tx2"/>
          </a:solidFill>
        </a:defRPr>
      </a:lvl7pPr>
      <a:lvl8pPr eaLnBrk="1" hangingPunct="1">
        <a:defRPr kumimoji="1" lang="ja-JP">
          <a:solidFill>
            <a:schemeClr val="tx2"/>
          </a:solidFill>
        </a:defRPr>
      </a:lvl8pPr>
      <a:lvl9pPr eaLnBrk="1" hangingPunct="1">
        <a:defRPr kumimoji="1" lang="ja-JP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lang="ja-JP" sz="2800" b="0" i="0" kern="120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2400" b="0" i="0" kern="120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2000" b="0" i="0" kern="120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b="0" i="0" kern="120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b="0" i="0" kern="1200">
          <a:solidFill>
            <a:schemeClr val="bg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1pPr>
      <a:lvl2pPr marL="4572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2pPr>
      <a:lvl3pPr marL="9144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3716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18288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2860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7432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2004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6576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3903" y="411478"/>
            <a:ext cx="7482401" cy="3681199"/>
          </a:xfrm>
        </p:spPr>
        <p:txBody>
          <a:bodyPr rtlCol="0"/>
          <a:lstStyle>
            <a:defPPr>
              <a:defRPr lang="ja-JP"/>
            </a:defPPr>
          </a:lstStyle>
          <a:p>
            <a:pPr>
              <a:lnSpc>
                <a:spcPct val="90000"/>
              </a:lnSpc>
            </a:pPr>
            <a:r>
              <a:rPr lang="en-US" altLang="ja-JP" sz="4400" dirty="0"/>
              <a:t>Predicting Medical</a:t>
            </a:r>
            <a:r>
              <a:rPr lang="ja-JP" altLang="en-US" sz="4400" dirty="0"/>
              <a:t>　</a:t>
            </a:r>
            <a:r>
              <a:rPr lang="en-US" altLang="ja-JP" sz="4400" dirty="0"/>
              <a:t>Insurance Costs with </a:t>
            </a:r>
            <a:r>
              <a:rPr lang="en-US" altLang="ja-JP" sz="4400" dirty="0">
                <a:solidFill>
                  <a:schemeClr val="tx2"/>
                </a:solidFill>
              </a:rPr>
              <a:t>Linear</a:t>
            </a:r>
            <a:r>
              <a:rPr lang="en-US" altLang="ja-JP" sz="4400" dirty="0"/>
              <a:t> and </a:t>
            </a:r>
            <a:r>
              <a:rPr lang="en-US" altLang="ja-JP" sz="4400" dirty="0">
                <a:solidFill>
                  <a:schemeClr val="accent3"/>
                </a:solidFill>
              </a:rPr>
              <a:t>Ridge</a:t>
            </a:r>
            <a:r>
              <a:rPr lang="en-US" altLang="ja-JP" sz="4400" dirty="0"/>
              <a:t> Regression</a:t>
            </a:r>
            <a:br>
              <a:rPr lang="en-US" altLang="ja-JP" sz="4400" dirty="0"/>
            </a:br>
            <a:endParaRPr lang="ja-JP" sz="4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C1A662-0358-1B2C-AC5E-BF4F3A3935F0}"/>
              </a:ext>
            </a:extLst>
          </p:cNvPr>
          <p:cNvSpPr txBox="1"/>
          <p:nvPr/>
        </p:nvSpPr>
        <p:spPr>
          <a:xfrm>
            <a:off x="5456903" y="4439265"/>
            <a:ext cx="4896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Presenters: ZHANG SISHEN </a:t>
            </a:r>
          </a:p>
          <a:p>
            <a:r>
              <a:rPr kumimoji="1" lang="en-US" altLang="ja-JP" sz="2400" dirty="0">
                <a:solidFill>
                  <a:schemeClr val="bg1"/>
                </a:solidFill>
              </a:rPr>
              <a:t>		SYARAH ZAFIRA </a:t>
            </a:r>
          </a:p>
          <a:p>
            <a:r>
              <a:rPr kumimoji="1" lang="en-US" altLang="ja-JP" sz="2400" dirty="0">
                <a:solidFill>
                  <a:schemeClr val="bg1"/>
                </a:solidFill>
              </a:rPr>
              <a:t>		XU CHENGJUN</a:t>
            </a:r>
          </a:p>
          <a:p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/>
              <a:t>Presentation Outline</a:t>
            </a:r>
            <a:endParaRPr lang="ja-JP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/>
          <a:lstStyle>
            <a:defPPr>
              <a:defRPr lang="ja-JP"/>
            </a:defPPr>
          </a:lstStyle>
          <a:p>
            <a:r>
              <a:rPr lang="en-US" altLang="ja-JP" dirty="0"/>
              <a:t>Dataset Intro</a:t>
            </a:r>
            <a:endParaRPr lang="ja-JP" dirty="0"/>
          </a:p>
          <a:p>
            <a:r>
              <a:rPr lang="en-US" altLang="ja-JP" dirty="0"/>
              <a:t>Analysis Approach</a:t>
            </a:r>
            <a:endParaRPr lang="ja-JP" dirty="0"/>
          </a:p>
          <a:p>
            <a:r>
              <a:rPr lang="en-US" altLang="ja-JP" dirty="0"/>
              <a:t>Results</a:t>
            </a:r>
            <a:endParaRPr lang="ja-JP" dirty="0"/>
          </a:p>
          <a:p>
            <a:r>
              <a:rPr lang="en-US" altLang="ja-JP" dirty="0"/>
              <a:t>Conclusion</a:t>
            </a:r>
            <a:endParaRPr lang="ja-JP" dirty="0"/>
          </a:p>
          <a:p>
            <a:pPr marL="0" indent="0" rtl="0">
              <a:buNone/>
            </a:pPr>
            <a:endParaRPr lang="ja-JP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21" y="433888"/>
            <a:ext cx="10873740" cy="766631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Dataset Introduction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02159" y="1401097"/>
            <a:ext cx="9587681" cy="5169310"/>
          </a:xfrm>
        </p:spPr>
        <p:txBody>
          <a:bodyPr rtlCol="0">
            <a:normAutofit fontScale="85000" lnSpcReduction="20000"/>
          </a:bodyPr>
          <a:lstStyle>
            <a:defPPr>
              <a:defRPr lang="ja-JP"/>
            </a:defPPr>
          </a:lstStyle>
          <a:p>
            <a:r>
              <a:rPr lang="en-US" altLang="ja-JP" sz="3200" b="1" dirty="0"/>
              <a:t>Dataset</a:t>
            </a:r>
            <a:r>
              <a:rPr lang="en-US" altLang="ja-JP" sz="3200" dirty="0"/>
              <a:t>: "Medical Cost Personal Dataset" from Kaggle </a:t>
            </a:r>
          </a:p>
          <a:p>
            <a:r>
              <a:rPr lang="en-US" altLang="ja-JP" sz="3200" b="1" dirty="0"/>
              <a:t>Characteristics</a:t>
            </a:r>
            <a:r>
              <a:rPr lang="en-US" altLang="ja-JP" sz="3200" dirty="0"/>
              <a:t>:</a:t>
            </a:r>
          </a:p>
          <a:p>
            <a:pPr lvl="1"/>
            <a:r>
              <a:rPr lang="en-US" altLang="ja-JP" sz="3200" dirty="0"/>
              <a:t>Contains 1,338 observations of insurance beneficiaries.</a:t>
            </a:r>
          </a:p>
          <a:p>
            <a:pPr lvl="1"/>
            <a:r>
              <a:rPr lang="en-US" altLang="ja-JP" sz="3200" b="1" dirty="0"/>
              <a:t>Features</a:t>
            </a:r>
            <a:r>
              <a:rPr lang="en-US" altLang="ja-JP" sz="3200" dirty="0"/>
              <a:t>: age, sex, </a:t>
            </a:r>
            <a:r>
              <a:rPr lang="en-US" altLang="ja-JP" sz="3200" dirty="0" err="1"/>
              <a:t>bmi</a:t>
            </a:r>
            <a:r>
              <a:rPr lang="en-US" altLang="ja-JP" sz="3200" dirty="0"/>
              <a:t>, children, smoker, region</a:t>
            </a:r>
          </a:p>
          <a:p>
            <a:pPr lvl="1"/>
            <a:r>
              <a:rPr lang="en-US" altLang="ja-JP" sz="3200" b="1" dirty="0"/>
              <a:t>Target Variable</a:t>
            </a:r>
            <a:r>
              <a:rPr lang="en-US" altLang="ja-JP" sz="3200" dirty="0"/>
              <a:t>: charges (medical insurance cost)</a:t>
            </a:r>
          </a:p>
          <a:p>
            <a:r>
              <a:rPr lang="en-US" altLang="ja-JP" sz="3200" b="1" dirty="0"/>
              <a:t>Reason for Selection </a:t>
            </a:r>
            <a:r>
              <a:rPr lang="en-US" altLang="ja-JP" sz="3200" dirty="0"/>
              <a:t>:</a:t>
            </a:r>
          </a:p>
          <a:p>
            <a:pPr lvl="1"/>
            <a:r>
              <a:rPr lang="en-US" altLang="ja-JP" sz="3200" dirty="0"/>
              <a:t>The dataset is suitable for regression as it includes both numerical (age, </a:t>
            </a:r>
            <a:r>
              <a:rPr lang="en-US" altLang="ja-JP" sz="3200" dirty="0" err="1"/>
              <a:t>bmi</a:t>
            </a:r>
            <a:r>
              <a:rPr lang="en-US" altLang="ja-JP" sz="3200" dirty="0"/>
              <a:t>) and categorical (sex, smoker) features, with a continuous target variable (charges).</a:t>
            </a:r>
          </a:p>
          <a:p>
            <a:pPr rtl="0"/>
            <a:endParaRPr lang="ja-JP" dirty="0"/>
          </a:p>
          <a:p>
            <a:pPr rtl="0"/>
            <a:endParaRPr lang="ja-JP" dirty="0"/>
          </a:p>
        </p:txBody>
      </p:sp>
      <p:grpSp>
        <p:nvGrpSpPr>
          <p:cNvPr id="19" name="グループ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フリーフォーム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フリーフォーム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フリーフォーム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869" y="353960"/>
            <a:ext cx="10444807" cy="710841"/>
          </a:xfrm>
        </p:spPr>
        <p:txBody>
          <a:bodyPr rtlCol="0"/>
          <a:lstStyle>
            <a:defPPr>
              <a:defRPr lang="ja-JP"/>
            </a:defPPr>
          </a:lstStyle>
          <a:p>
            <a:pPr rtl="0">
              <a:lnSpc>
                <a:spcPct val="90000"/>
              </a:lnSpc>
            </a:pPr>
            <a:r>
              <a:rPr lang="en-US" altLang="ja-JP" dirty="0">
                <a:solidFill>
                  <a:schemeClr val="accent5"/>
                </a:solidFill>
              </a:rPr>
              <a:t>Exploratory Data Analysis (EDA)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4490827" cy="3597470"/>
          </a:xfrm>
        </p:spPr>
        <p:txBody>
          <a:bodyPr rtlCol="0">
            <a:normAutofit/>
          </a:bodyPr>
          <a:lstStyle>
            <a:defPPr>
              <a:defRPr lang="ja-JP"/>
            </a:defPPr>
          </a:lstStyle>
          <a:p>
            <a:pPr lvl="1"/>
            <a:r>
              <a:rPr lang="en-US" altLang="ja-JP" dirty="0"/>
              <a:t>Purpose: To understand the data's characteristics and form hypotheses about key predictive variables.</a:t>
            </a:r>
          </a:p>
          <a:p>
            <a:pPr lvl="1"/>
            <a:r>
              <a:rPr lang="en-US" altLang="ja-JP" dirty="0"/>
              <a:t>Key </a:t>
            </a:r>
            <a:r>
              <a:rPr lang="en-US" altLang="ja-JP" dirty="0" err="1"/>
              <a:t>Insight:Smoker</a:t>
            </a:r>
            <a:r>
              <a:rPr lang="en-US" altLang="ja-JP" dirty="0"/>
              <a:t> status is the most significant predictor of higher costs Charges also show an increasing trend with age.</a:t>
            </a:r>
            <a:endParaRPr lang="ja-JP" dirty="0"/>
          </a:p>
        </p:txBody>
      </p:sp>
      <p:pic>
        <p:nvPicPr>
          <p:cNvPr id="13" name="コンテンツ プレースホルダー 12">
            <a:extLst>
              <a:ext uri="{FF2B5EF4-FFF2-40B4-BE49-F238E27FC236}">
                <a16:creationId xmlns:a16="http://schemas.microsoft.com/office/drawing/2014/main" id="{86CB6418-39C1-7402-0846-FA1B3461B9B8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/>
          <a:stretch>
            <a:fillRect/>
          </a:stretch>
        </p:blipFill>
        <p:spPr>
          <a:xfrm>
            <a:off x="6096000" y="3111293"/>
            <a:ext cx="4491037" cy="3162702"/>
          </a:xfrm>
          <a:prstGeom prst="rect">
            <a:avLst/>
          </a:prstGeom>
        </p:spPr>
      </p:pic>
      <p:sp>
        <p:nvSpPr>
          <p:cNvPr id="14" name="楕円 13">
            <a:extLst>
              <a:ext uri="{FF2B5EF4-FFF2-40B4-BE49-F238E27FC236}">
                <a16:creationId xmlns:a16="http://schemas.microsoft.com/office/drawing/2014/main" id="{239ED724-7893-ACF6-B40C-D36483194F19}"/>
              </a:ext>
            </a:extLst>
          </p:cNvPr>
          <p:cNvSpPr/>
          <p:nvPr/>
        </p:nvSpPr>
        <p:spPr>
          <a:xfrm>
            <a:off x="9048135" y="3212991"/>
            <a:ext cx="604684" cy="58412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822AFE3E-B1EF-85DF-4364-21019A678C50}"/>
              </a:ext>
            </a:extLst>
          </p:cNvPr>
          <p:cNvSpPr/>
          <p:nvPr/>
        </p:nvSpPr>
        <p:spPr>
          <a:xfrm>
            <a:off x="9048135" y="4757366"/>
            <a:ext cx="604684" cy="58412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DCD2FFA-9E61-4358-04A1-EB4C8C6233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6315" y="1166499"/>
            <a:ext cx="5181392" cy="192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3B17C-4831-A972-CA31-659C695DA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52B9A2-99EF-78AD-8ECC-639296C6B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8408"/>
            <a:ext cx="10972800" cy="1574317"/>
          </a:xfrm>
        </p:spPr>
        <p:txBody>
          <a:bodyPr rtlCol="0" anchor="b">
            <a:normAutofit/>
          </a:bodyPr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3"/>
                </a:solidFill>
              </a:rPr>
              <a:t>Data Preprocessing</a:t>
            </a:r>
            <a:endParaRPr lang="ja-JP" dirty="0">
              <a:solidFill>
                <a:schemeClr val="accent3"/>
              </a:solidFill>
            </a:endParaRPr>
          </a:p>
        </p:txBody>
      </p:sp>
      <p:pic>
        <p:nvPicPr>
          <p:cNvPr id="14" name="コンテンツ プレースホルダー 13">
            <a:extLst>
              <a:ext uri="{FF2B5EF4-FFF2-40B4-BE49-F238E27FC236}">
                <a16:creationId xmlns:a16="http://schemas.microsoft.com/office/drawing/2014/main" id="{AB8631B7-DC7E-110F-1B66-451F4F39F17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400396" y="2357019"/>
            <a:ext cx="11166764" cy="3464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65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F24D8-00F3-C898-D15B-322F31186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D866AD-5E52-347C-5915-12DA945C4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102" y="263567"/>
            <a:ext cx="6787747" cy="603208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Data Preprocessing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F4BF5F-F626-EEE4-2C38-3662C0B6CC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53" y="2256503"/>
            <a:ext cx="8476533" cy="4685993"/>
          </a:xfrm>
        </p:spPr>
        <p:txBody>
          <a:bodyPr tIns="457200" rtlCol="0">
            <a:normAutofit fontScale="77500" lnSpcReduction="20000"/>
          </a:bodyPr>
          <a:lstStyle>
            <a:defPPr>
              <a:defRPr lang="ja-JP"/>
            </a:defPPr>
          </a:lstStyle>
          <a:p>
            <a:r>
              <a:rPr lang="en-US" altLang="ja-JP" sz="2900" dirty="0"/>
              <a:t>Steps Taken: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sz="2900" dirty="0"/>
              <a:t>Categorical Variable Encoding:</a:t>
            </a:r>
          </a:p>
          <a:p>
            <a:pPr marL="859536" lvl="1" indent="-457200">
              <a:buFont typeface="+mj-lt"/>
              <a:buAutoNum type="arabicPeriod"/>
            </a:pPr>
            <a:r>
              <a:rPr lang="en-US" altLang="ja-JP" sz="2900" dirty="0"/>
              <a:t>Converted sex, smoker, and region into numerical format using </a:t>
            </a:r>
            <a:r>
              <a:rPr lang="en-US" altLang="ja-JP" sz="2900" b="1" dirty="0"/>
              <a:t>One-Hot Encoding</a:t>
            </a:r>
            <a:r>
              <a:rPr lang="en-US" altLang="ja-JP" sz="29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sz="2900" dirty="0"/>
              <a:t>Numerical Feature Scaling:</a:t>
            </a:r>
          </a:p>
          <a:p>
            <a:pPr marL="859536" lvl="1" indent="-457200">
              <a:buFont typeface="+mj-lt"/>
              <a:buAutoNum type="arabicPeriod"/>
            </a:pPr>
            <a:r>
              <a:rPr lang="en-US" altLang="ja-JP" sz="2900" dirty="0"/>
              <a:t>Used </a:t>
            </a:r>
            <a:r>
              <a:rPr lang="en-US" altLang="ja-JP" sz="2900" b="1" dirty="0"/>
              <a:t>StandardScaler</a:t>
            </a:r>
            <a:r>
              <a:rPr lang="en-US" altLang="ja-JP" sz="2900" dirty="0"/>
              <a:t> to standardize the scale of numerical features.</a:t>
            </a:r>
          </a:p>
          <a:p>
            <a:pPr marL="859536" lvl="1" indent="-457200">
              <a:buFont typeface="+mj-lt"/>
              <a:buAutoNum type="arabicPeriod"/>
            </a:pPr>
            <a:r>
              <a:rPr lang="en-US" altLang="ja-JP" sz="2900" b="1" dirty="0"/>
              <a:t>Why is this important?</a:t>
            </a:r>
            <a:r>
              <a:rPr lang="en-US" altLang="ja-JP" sz="2900" dirty="0"/>
              <a:t>: For regularized models like Ridge Regression, it ensures that the penalty is applied fairly across all features 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sz="2900" dirty="0"/>
              <a:t>Data Splitting:</a:t>
            </a:r>
          </a:p>
          <a:p>
            <a:pPr marL="859536" lvl="1" indent="-457200">
              <a:buFont typeface="+mj-lt"/>
              <a:buAutoNum type="arabicPeriod"/>
            </a:pPr>
            <a:r>
              <a:rPr lang="en-US" altLang="ja-JP" sz="2900" dirty="0"/>
              <a:t>Split the dataset into an 80% training set and a 20% testing set.</a:t>
            </a:r>
          </a:p>
          <a:p>
            <a:pPr marL="0" indent="0" rtl="0">
              <a:buNone/>
            </a:pPr>
            <a:endParaRPr 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22B3AD-5999-C87E-4218-961D8C1BD17D}"/>
              </a:ext>
            </a:extLst>
          </p:cNvPr>
          <p:cNvSpPr txBox="1"/>
          <p:nvPr/>
        </p:nvSpPr>
        <p:spPr>
          <a:xfrm>
            <a:off x="737419" y="1246239"/>
            <a:ext cx="693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</a:rPr>
              <a:t>Purpose: To prepare the data for model training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013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2A871D-B15E-C971-7C85-0AF173E38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310" y="278129"/>
            <a:ext cx="5063490" cy="2354026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3"/>
                </a:solidFill>
              </a:rPr>
              <a:t>Model Implementation &amp; Evaluation Metrics</a:t>
            </a:r>
            <a:endParaRPr lang="ja-JP" dirty="0">
              <a:solidFill>
                <a:schemeClr val="accent3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AD26BC2-5C73-3CED-012E-362E8FDC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163" y="278129"/>
            <a:ext cx="6170422" cy="227976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4AED781-C5F3-BE82-77B9-4980AAD16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53" y="3279775"/>
            <a:ext cx="5024424" cy="288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4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12182-0446-D439-E5BB-697CAA78F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8C7BC5A-815E-F421-130A-7AAB85C05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33" y="301153"/>
            <a:ext cx="11381331" cy="1099944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sz="4000" dirty="0">
                <a:solidFill>
                  <a:schemeClr val="accent5"/>
                </a:solidFill>
              </a:rPr>
              <a:t>Model Implementation &amp; Evaluation Metrics</a:t>
            </a:r>
            <a:endParaRPr lang="ja-JP" sz="4000" dirty="0">
              <a:solidFill>
                <a:schemeClr val="accent5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テキスト プレースホルダー 6">
                <a:extLst>
                  <a:ext uri="{FF2B5EF4-FFF2-40B4-BE49-F238E27FC236}">
                    <a16:creationId xmlns:a16="http://schemas.microsoft.com/office/drawing/2014/main" id="{7552D49D-9402-2B5B-3E53-B751D6620F6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1302159" y="1401097"/>
                <a:ext cx="9587681" cy="5169310"/>
              </a:xfrm>
            </p:spPr>
            <p:txBody>
              <a:bodyPr rtlCol="0">
                <a:normAutofit lnSpcReduction="10000"/>
              </a:bodyPr>
              <a:lstStyle>
                <a:defPPr>
                  <a:defRPr lang="ja-JP"/>
                </a:defPPr>
              </a:lstStyle>
              <a:p>
                <a:pPr rtl="0"/>
                <a:r>
                  <a:rPr lang="en-US" altLang="ja-JP" b="1" dirty="0"/>
                  <a:t>Models Implemented</a:t>
                </a:r>
                <a:r>
                  <a:rPr lang="en-US" altLang="ja-JP" dirty="0"/>
                  <a:t>:</a:t>
                </a:r>
              </a:p>
              <a:p>
                <a:pPr lvl="1"/>
                <a:r>
                  <a:rPr lang="en-US" altLang="ja-JP" dirty="0"/>
                  <a:t>Linear Regression: Serves as our baseline model.</a:t>
                </a:r>
              </a:p>
              <a:p>
                <a:pPr lvl="1"/>
                <a:r>
                  <a:rPr lang="en-US" altLang="ja-JP" dirty="0"/>
                  <a:t>Ridge Regression: An L2-regularized model designed to prevent overfitting by penalizing large coefficients.</a:t>
                </a:r>
              </a:p>
              <a:p>
                <a:pPr rtl="0"/>
                <a:r>
                  <a:rPr lang="en-US" altLang="ja-JP" b="1" dirty="0"/>
                  <a:t>Evaluation Metrics </a:t>
                </a:r>
                <a:r>
                  <a:rPr lang="en-US" altLang="ja-JP" dirty="0"/>
                  <a:t>:</a:t>
                </a:r>
              </a:p>
              <a:p>
                <a:pPr lvl="1"/>
                <a:r>
                  <a:rPr lang="en-US" altLang="ja-JP" dirty="0"/>
                  <a:t>Mean Squared Error (MSE): Measures the magnitude of prediction errors. A smaller value is better.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dirty="0"/>
              </a:p>
              <a:p>
                <a:pPr lvl="1"/>
                <a:r>
                  <a:rPr lang="en-US" altLang="ja-JP" dirty="0"/>
                  <a:t>R² Score: Indicates how well the model explains the variance in the data. A value closer to 1 is better.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i="1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ja-JP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ja-JP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ja-JP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altLang="ja-JP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</a:p>
              <a:p>
                <a:pPr lvl="2"/>
                <a:endParaRPr lang="en-US" altLang="ja-JP" dirty="0"/>
              </a:p>
              <a:p>
                <a:pPr lvl="2"/>
                <a:endParaRPr lang="ja-JP" dirty="0"/>
              </a:p>
              <a:p>
                <a:pPr rtl="0"/>
                <a:endParaRPr lang="ja-JP" dirty="0"/>
              </a:p>
            </p:txBody>
          </p:sp>
        </mc:Choice>
        <mc:Fallback>
          <p:sp>
            <p:nvSpPr>
              <p:cNvPr id="7" name="テキスト プレースホルダー 6">
                <a:extLst>
                  <a:ext uri="{FF2B5EF4-FFF2-40B4-BE49-F238E27FC236}">
                    <a16:creationId xmlns:a16="http://schemas.microsoft.com/office/drawing/2014/main" id="{7552D49D-9402-2B5B-3E53-B751D662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1302159" y="1401097"/>
                <a:ext cx="9587681" cy="5169310"/>
              </a:xfrm>
              <a:blipFill>
                <a:blip r:embed="rId3"/>
                <a:stretch>
                  <a:fillRect l="-15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グループ 18">
            <a:extLst>
              <a:ext uri="{FF2B5EF4-FFF2-40B4-BE49-F238E27FC236}">
                <a16:creationId xmlns:a16="http://schemas.microsoft.com/office/drawing/2014/main" id="{787E976A-AD13-3176-1DDD-7BE1B02C5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フリーフォーム(F) 19">
              <a:extLst>
                <a:ext uri="{FF2B5EF4-FFF2-40B4-BE49-F238E27FC236}">
                  <a16:creationId xmlns:a16="http://schemas.microsoft.com/office/drawing/2014/main" id="{51A78C15-ED89-0D9B-4A14-96D745960B3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フリーフォーム(F) 20">
              <a:extLst>
                <a:ext uri="{FF2B5EF4-FFF2-40B4-BE49-F238E27FC236}">
                  <a16:creationId xmlns:a16="http://schemas.microsoft.com/office/drawing/2014/main" id="{A960EC6D-560A-DFF6-D81D-7CE60A5EFDD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フリーフォーム(F) 21">
              <a:extLst>
                <a:ext uri="{FF2B5EF4-FFF2-40B4-BE49-F238E27FC236}">
                  <a16:creationId xmlns:a16="http://schemas.microsoft.com/office/drawing/2014/main" id="{D18DF0A4-44EA-0702-5513-0C0485EADB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ja-JP"/>
              </a:defPPr>
            </a:lstStyle>
            <a:p>
              <a:pPr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130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759DC4-8B30-98A0-5BAB-C78BA4A4A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740" y="420329"/>
            <a:ext cx="10972800" cy="688719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Results &amp; Model Comparison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96FB3A-B62C-3DAB-4FD1-B4EBDD650AE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5523" y="2676525"/>
            <a:ext cx="5746750" cy="3597470"/>
          </a:xfrm>
        </p:spPr>
        <p:txBody>
          <a:bodyPr rtlCol="0">
            <a:normAutofit/>
          </a:bodyPr>
          <a:lstStyle>
            <a:defPPr>
              <a:defRPr lang="ja-JP"/>
            </a:defPPr>
          </a:lstStyle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dirty="0"/>
              <a:t>Performance on a Single Train/Test Split: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dirty="0" err="1"/>
              <a:t>Analysis:In</a:t>
            </a:r>
            <a:r>
              <a:rPr lang="en-US" altLang="ja-JP" dirty="0"/>
              <a:t> this specific split, both models performed similarly. However, Linear Regression is generally more prone to overfitting the training data compared to Ridge Regression.</a:t>
            </a:r>
            <a:endParaRPr 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24D5F80-219A-9F9E-C448-DD9DAD50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067" y="2366809"/>
            <a:ext cx="5111447" cy="34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768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9B42-CF9F-DA74-C10D-7194AECA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24972D-3D34-F237-6725-EBD94914F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740" y="73743"/>
            <a:ext cx="10972800" cy="1035306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sz="4000" dirty="0">
                <a:solidFill>
                  <a:schemeClr val="accent5"/>
                </a:solidFill>
              </a:rPr>
              <a:t>Demonstrating Overfitting with Polynomial Features</a:t>
            </a:r>
            <a:endParaRPr lang="ja-JP" sz="4000" dirty="0">
              <a:solidFill>
                <a:schemeClr val="accent5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EF1AB02-957E-14F2-56E1-5B7A0D4BA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0579" y="1806677"/>
            <a:ext cx="6511421" cy="4703291"/>
          </a:xfrm>
          <a:prstGeom prst="rect">
            <a:avLst/>
          </a:prstGeom>
        </p:spPr>
      </p:pic>
      <p:pic>
        <p:nvPicPr>
          <p:cNvPr id="10" name="コンテンツ プレースホルダー 9">
            <a:extLst>
              <a:ext uri="{FF2B5EF4-FFF2-40B4-BE49-F238E27FC236}">
                <a16:creationId xmlns:a16="http://schemas.microsoft.com/office/drawing/2014/main" id="{CB88721B-93E1-682A-5517-B8F28FF6324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/>
          <a:stretch>
            <a:fillRect/>
          </a:stretch>
        </p:blipFill>
        <p:spPr>
          <a:xfrm>
            <a:off x="53612" y="2857955"/>
            <a:ext cx="5919485" cy="314270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A699780-72FA-6A75-60C5-51DD0D721F3B}"/>
              </a:ext>
            </a:extLst>
          </p:cNvPr>
          <p:cNvSpPr txBox="1"/>
          <p:nvPr/>
        </p:nvSpPr>
        <p:spPr>
          <a:xfrm>
            <a:off x="345724" y="2488623"/>
            <a:ext cx="30779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solidFill>
                  <a:schemeClr val="bg1"/>
                </a:solidFill>
              </a:rPr>
              <a:t>Degree=4</a:t>
            </a:r>
            <a:endParaRPr kumimoji="1" lang="ja-JP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9310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1A81-DA74-0D54-9574-433AD5F78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9209EE-A70B-C9D5-4B23-068836ADB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22" y="125175"/>
            <a:ext cx="10972800" cy="688719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Hyperparameter Tuning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7AF880-B08C-82D2-228C-401A1C72B3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3852" y="1224115"/>
            <a:ext cx="6975987" cy="5442155"/>
          </a:xfrm>
        </p:spPr>
        <p:txBody>
          <a:bodyPr rtlCol="0">
            <a:normAutofit/>
          </a:bodyPr>
          <a:lstStyle>
            <a:defPPr>
              <a:defRPr lang="ja-JP"/>
            </a:defPPr>
          </a:lstStyle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Purpose</a:t>
            </a:r>
            <a:r>
              <a:rPr lang="en-US" altLang="ja-JP" dirty="0"/>
              <a:t>: To find the optimal regularization parameter α that maximizes the performance of the Ridge Regression model.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Method</a:t>
            </a:r>
            <a:r>
              <a:rPr lang="en-US" altLang="ja-JP" dirty="0"/>
              <a:t>: Used </a:t>
            </a:r>
            <a:r>
              <a:rPr lang="en-US" altLang="ja-JP" dirty="0" err="1"/>
              <a:t>GridSearchCV</a:t>
            </a:r>
            <a:r>
              <a:rPr lang="en-US" altLang="ja-JP" dirty="0"/>
              <a:t> to evaluate performance across a range of α values ([0.01, 0.1, 1, 10, 100]).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Relationship between Alpha and Performance</a:t>
            </a:r>
            <a:r>
              <a:rPr lang="en-US" altLang="ja-JP" dirty="0"/>
              <a:t>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Analysis</a:t>
            </a:r>
            <a:r>
              <a:rPr lang="en-US" altLang="ja-JP" dirty="0"/>
              <a:t>: As α increases, regularization becomes stronger, which can lead to underfitting (increased bias) and lower performance. We found α=10 to be the optimal value in our test.</a:t>
            </a:r>
            <a:endParaRPr 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34A677-36D6-DF81-B29B-C2CDC2D86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444" y="1032388"/>
            <a:ext cx="4119143" cy="497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76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7CD4F-C3E5-4677-6003-AB452D0A6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07CDA6-8FD8-8064-FD70-B9C24347A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22" y="125175"/>
            <a:ext cx="10972800" cy="688719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The Role of Cross-Validation 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92B661-82F5-6808-3401-3C020FEDDA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3852" y="1224115"/>
            <a:ext cx="6975987" cy="5442155"/>
          </a:xfrm>
        </p:spPr>
        <p:txBody>
          <a:bodyPr rtlCol="0">
            <a:normAutofit/>
          </a:bodyPr>
          <a:lstStyle>
            <a:defPPr>
              <a:defRPr lang="ja-JP"/>
            </a:defPPr>
          </a:lstStyle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Purpose</a:t>
            </a:r>
            <a:r>
              <a:rPr lang="en-US" altLang="ja-JP" dirty="0"/>
              <a:t>: To obtain a more reliable and robust measure of model performance, independent of a single data split.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Method</a:t>
            </a:r>
            <a:r>
              <a:rPr lang="en-US" altLang="ja-JP" dirty="0"/>
              <a:t>: Implemented 5-Fold Cross-Validation.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altLang="ja-JP" b="1" dirty="0"/>
              <a:t>Average R² Score from Cross-Validation</a:t>
            </a:r>
            <a:r>
              <a:rPr lang="en-US" altLang="ja-JP" dirty="0"/>
              <a:t>:</a:t>
            </a:r>
          </a:p>
          <a:p>
            <a:pPr marL="1028700" lvl="1" indent="-342900"/>
            <a:r>
              <a:rPr lang="en-US" altLang="ja-JP" dirty="0"/>
              <a:t>Linear Regression: 0.7402</a:t>
            </a:r>
          </a:p>
          <a:p>
            <a:pPr marL="1028700" lvl="1" indent="-342900"/>
            <a:r>
              <a:rPr lang="en-US" altLang="ja-JP" dirty="0"/>
              <a:t>Ridge Regression (α=10): 0.7403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b="1" dirty="0" err="1"/>
              <a:t>Conclusion</a:t>
            </a:r>
            <a:r>
              <a:rPr lang="en-US" altLang="ja-JP" dirty="0" err="1"/>
              <a:t>:The</a:t>
            </a:r>
            <a:r>
              <a:rPr lang="en-US" altLang="ja-JP" dirty="0"/>
              <a:t> cross-validation results confirm that Ridge Regression provides slightly more consistent and higher performance, indicating better generalization ability.</a:t>
            </a:r>
            <a:endParaRPr 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AAA574-5DFA-86C4-4B93-E8221FF7F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839" y="2122878"/>
            <a:ext cx="4679631" cy="240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79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7AB9C34-2B13-E66F-1053-2BA156F8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95" y="258096"/>
            <a:ext cx="10972800" cy="555983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Conclusion &amp; Key Insights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100C854-08ED-A7F1-6ADB-CA203EAD192B}"/>
              </a:ext>
            </a:extLst>
          </p:cNvPr>
          <p:cNvSpPr txBox="1"/>
          <p:nvPr/>
        </p:nvSpPr>
        <p:spPr>
          <a:xfrm>
            <a:off x="162233" y="1336925"/>
            <a:ext cx="11202873" cy="45243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Summary of Key Insights </a:t>
            </a:r>
            <a:r>
              <a:rPr kumimoji="1" lang="en-US" altLang="ja-JP" sz="2400" dirty="0"/>
              <a:t>(from README.md):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Strongest Predictor</a:t>
            </a:r>
            <a:r>
              <a:rPr kumimoji="1" lang="en-US" altLang="ja-JP" sz="2400" dirty="0"/>
              <a:t>: Smoker status was the most influential feature for predicting medical costs.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Model Performance</a:t>
            </a:r>
            <a:r>
              <a:rPr kumimoji="1" lang="en-US" altLang="ja-JP" sz="2400" dirty="0"/>
              <a:t>: Ridge Regression demonstrated better generalization by preventing overfitting through regularization 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Importance of Alpha</a:t>
            </a:r>
            <a:r>
              <a:rPr kumimoji="1" lang="en-US" altLang="ja-JP" sz="2400" dirty="0"/>
              <a:t>: Tuning the alpha parameter is crucial for balancing the bias-variance tradeoff in Ridge Regression.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Value of Cross-Validation</a:t>
            </a:r>
            <a:r>
              <a:rPr kumimoji="1" lang="en-US" altLang="ja-JP" sz="2400" dirty="0"/>
              <a:t>: Cross-validation provides a more robust evaluation of a model's true performance compared to a single train-test split.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Future Work</a:t>
            </a:r>
            <a:r>
              <a:rPr kumimoji="1" lang="en-US" altLang="ja-JP" sz="2400" dirty="0"/>
              <a:t>: Further work could involve exploring other regularization techniques like Lasso or more complex models like Gradient Boosting.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52428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85270-ECB3-2804-18F5-F391C7BF6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5822668-5767-FC96-0DE6-393D5055E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95" y="258096"/>
            <a:ext cx="10972800" cy="555983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Team Member Contributions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125E6FC-4EBA-0643-C8F5-1CA7FAE9DF99}"/>
              </a:ext>
            </a:extLst>
          </p:cNvPr>
          <p:cNvSpPr txBox="1"/>
          <p:nvPr/>
        </p:nvSpPr>
        <p:spPr>
          <a:xfrm>
            <a:off x="140111" y="1307429"/>
            <a:ext cx="11202873" cy="45243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[</a:t>
            </a:r>
            <a:r>
              <a:rPr kumimoji="1" lang="en-US" altLang="ja-JP" sz="2400" b="1" dirty="0">
                <a:solidFill>
                  <a:schemeClr val="bg1"/>
                </a:solidFill>
              </a:rPr>
              <a:t>SYARAH ZAFIRA </a:t>
            </a:r>
            <a:r>
              <a:rPr kumimoji="1" lang="en-US" altLang="ja-JP" sz="2400" b="1" dirty="0"/>
              <a:t>]: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2400" b="1" dirty="0"/>
              <a:t>Contributions</a:t>
            </a:r>
            <a:r>
              <a:rPr lang="en-US" altLang="ja-JP" sz="2400" dirty="0"/>
              <a:t>: Responsible for writing the majority of the Python code, including data preprocessing, model training (Linear and Ridge), and evaluation scripts.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[</a:t>
            </a:r>
            <a:r>
              <a:rPr kumimoji="1" lang="en-US" altLang="ja-JP" sz="2400" b="1" dirty="0">
                <a:solidFill>
                  <a:schemeClr val="bg1"/>
                </a:solidFill>
              </a:rPr>
              <a:t>ZHANG SISHEN </a:t>
            </a:r>
            <a:r>
              <a:rPr kumimoji="1" lang="en-US" altLang="ja-JP" sz="2400" b="1" dirty="0"/>
              <a:t>]:</a:t>
            </a:r>
            <a:r>
              <a:rPr kumimoji="1" lang="en-US" altLang="ja-JP" sz="24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2400" b="1" dirty="0"/>
              <a:t>Contributions</a:t>
            </a:r>
            <a:r>
              <a:rPr lang="en-US" altLang="ja-JP" sz="2400" dirty="0"/>
              <a:t>: Responsible for creating the presentation slides and conducting the analysis on model overfitting, comparing the performance of Linear and Ridge regression.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b="1" dirty="0"/>
              <a:t>[</a:t>
            </a:r>
            <a:r>
              <a:rPr kumimoji="1" lang="en-US" altLang="ja-JP" sz="2400" b="1" dirty="0">
                <a:solidFill>
                  <a:schemeClr val="bg1"/>
                </a:solidFill>
              </a:rPr>
              <a:t>XU CHENGJUN</a:t>
            </a:r>
            <a:r>
              <a:rPr kumimoji="1" lang="en-US" altLang="ja-JP" sz="2400" b="1" dirty="0"/>
              <a:t>]: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2400" b="1" dirty="0"/>
              <a:t>Contributions</a:t>
            </a:r>
            <a:r>
              <a:rPr lang="en-US" altLang="ja-JP" sz="2400" dirty="0"/>
              <a:t>: Responsible for creating the </a:t>
            </a:r>
            <a:r>
              <a:rPr lang="en-US" altLang="ja-JP" dirty="0"/>
              <a:t>README.md</a:t>
            </a:r>
            <a:r>
              <a:rPr lang="en-US" altLang="ja-JP" sz="2400" dirty="0"/>
              <a:t> file, which documents the project overview, dataset details, steps taken, and key insights.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453693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108" y="2389239"/>
            <a:ext cx="6285764" cy="760000"/>
          </a:xfrm>
        </p:spPr>
        <p:txBody>
          <a:bodyPr rtlCol="0"/>
          <a:lstStyle>
            <a:defPPr>
              <a:defRPr lang="ja-JP"/>
            </a:defPPr>
          </a:lstStyle>
          <a:p>
            <a:r>
              <a:rPr lang="en-US" altLang="ja-JP" dirty="0">
                <a:solidFill>
                  <a:schemeClr val="accent5"/>
                </a:solidFill>
              </a:rPr>
              <a:t>Thank you</a:t>
            </a:r>
            <a:endParaRPr lang="ja-JP" dirty="0">
              <a:solidFill>
                <a:schemeClr val="accent5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CBEE91-A836-92AD-074C-15A8F5C37D7E}"/>
              </a:ext>
            </a:extLst>
          </p:cNvPr>
          <p:cNvSpPr txBox="1"/>
          <p:nvPr/>
        </p:nvSpPr>
        <p:spPr>
          <a:xfrm>
            <a:off x="471948" y="4600251"/>
            <a:ext cx="4896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tx2"/>
                </a:solidFill>
              </a:rPr>
              <a:t>ZHANG SISHEN </a:t>
            </a:r>
          </a:p>
          <a:p>
            <a:r>
              <a:rPr kumimoji="1" lang="en-US" altLang="ja-JP" sz="2400" dirty="0">
                <a:solidFill>
                  <a:schemeClr val="tx2"/>
                </a:solidFill>
              </a:rPr>
              <a:t>SYARAH ZAFIRA </a:t>
            </a:r>
          </a:p>
          <a:p>
            <a:r>
              <a:rPr kumimoji="1" lang="en-US" altLang="ja-JP" sz="2400" dirty="0">
                <a:solidFill>
                  <a:schemeClr val="tx2"/>
                </a:solidFill>
              </a:rPr>
              <a:t>XU CHENGJUN</a:t>
            </a:r>
          </a:p>
          <a:p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ユーザー設定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5_TF78853419_Win32" id="{58577C8C-4A86-4ADE-B226-05EE0F3D760B}" vid="{D839CB4F-7ADA-4170-AA9C-936648A492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 panose="020F0302020204030204"/>
        <a:ea typeface="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 panose="020F0502020204030204"/>
        <a:ea typeface="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 panose="020F0302020204030204"/>
        <a:ea typeface="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 panose="020F0502020204030204"/>
        <a:ea typeface="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71af3243-3dd4-4a8d-8c0d-dd76da1f02a5"/>
    <ds:schemaRef ds:uri="http://schemas.microsoft.com/office/2006/metadata/properties"/>
    <ds:schemaRef ds:uri="http://www.w3.org/XML/1998/namespace"/>
    <ds:schemaRef ds:uri="16c05727-aa75-4e4a-9b5f-8a80a1165891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230e9df3-be65-4c73-a93b-d1236ebd677e"/>
    <ds:schemaRef ds:uri="http://schemas.microsoft.com/sharepoint/v3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{D7CEEA17-7E11-4A26-B191-678CC99FFBFC}TFd3b75063-ff25-434d-b12c-efeaf07d16c3f884f6de_win32-9bb48a9c2a7e</Template>
  <TotalTime>1285</TotalTime>
  <Words>767</Words>
  <Application>Microsoft Office PowerPoint</Application>
  <PresentationFormat>ワイド画面</PresentationFormat>
  <Paragraphs>93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Meiryo UI</vt:lpstr>
      <vt:lpstr>Arial</vt:lpstr>
      <vt:lpstr>Cambria Math</vt:lpstr>
      <vt:lpstr>ユーザー設定</vt:lpstr>
      <vt:lpstr>Predicting Medical　Insurance Costs with Linear and Ridge Regression </vt:lpstr>
      <vt:lpstr>Presentation Outline</vt:lpstr>
      <vt:lpstr>Dataset Introduction</vt:lpstr>
      <vt:lpstr>Exploratory Data Analysis (EDA)</vt:lpstr>
      <vt:lpstr>Data Preprocessing</vt:lpstr>
      <vt:lpstr>Data Preprocessing</vt:lpstr>
      <vt:lpstr>Model Implementation &amp; Evaluation Metrics</vt:lpstr>
      <vt:lpstr>Model Implementation &amp; Evaluation Metrics</vt:lpstr>
      <vt:lpstr>Results &amp; Model Comparison</vt:lpstr>
      <vt:lpstr>Demonstrating Overfitting with Polynomial Features</vt:lpstr>
      <vt:lpstr>Hyperparameter Tuning</vt:lpstr>
      <vt:lpstr>The Role of Cross-Validation </vt:lpstr>
      <vt:lpstr>Conclusion &amp; Key Insights</vt:lpstr>
      <vt:lpstr>Team Member Contributions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S242822076</dc:creator>
  <cp:lastModifiedBy>S242822076</cp:lastModifiedBy>
  <cp:revision>11</cp:revision>
  <dcterms:created xsi:type="dcterms:W3CDTF">2025-10-14T13:37:54Z</dcterms:created>
  <dcterms:modified xsi:type="dcterms:W3CDTF">2025-10-15T11:03:36Z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