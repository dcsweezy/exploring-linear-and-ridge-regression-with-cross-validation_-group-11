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zKWyxGblUibvwwRzrqsBI/X0Z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7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6.xml"/><Relationship Id="rId21" Type="http://schemas.openxmlformats.org/officeDocument/2006/relationships/font" Target="fonts/RobotoMono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Hi everyone, I’ll be explaining the </a:t>
            </a:r>
            <a:r>
              <a:rPr b="1" lang="en-US" sz="1100"/>
              <a:t>data preprocessing and regression modeling</a:t>
            </a:r>
            <a:r>
              <a:rPr lang="en-US" sz="1100"/>
              <a:t> steps of our project, focusing on how I handled data preparation and implemented Linear and Ridge Regression as well as going through the respective results and comparison.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I started by checking for </a:t>
            </a:r>
            <a:r>
              <a:rPr b="1" lang="en-US" sz="1100"/>
              <a:t>missing values</a:t>
            </a:r>
            <a:r>
              <a:rPr lang="en-US" sz="1100"/>
              <a:t> in the dataset using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data.isnull().sum()</a:t>
            </a:r>
            <a:r>
              <a:rPr lang="en-US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This helps ensure there are no gaps that could bias the model.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In this case, the insurance dataset was complete, so no imputation was required — but if there were missing values, I would replace them with the mean or median for numerical features and the mode for categorical ones.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Next, I moved on to </a:t>
            </a:r>
            <a:r>
              <a:rPr b="1" lang="en-US" sz="1100"/>
              <a:t>encoding categorical variables</a:t>
            </a:r>
            <a:r>
              <a:rPr lang="en-US" sz="1100"/>
              <a:t>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Since regression models work only with numerical inputs, I used </a:t>
            </a:r>
            <a:r>
              <a:rPr b="1" lang="en-US" sz="1100"/>
              <a:t>One-Hot Encoding</a:t>
            </a:r>
            <a:r>
              <a:rPr lang="en-US" sz="1100"/>
              <a:t> with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pd.get_dummies(data, drop_first=True)</a:t>
            </a:r>
            <a:r>
              <a:rPr lang="en-US" sz="1100"/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This converts categories like </a:t>
            </a:r>
            <a:r>
              <a:rPr i="1" lang="en-US" sz="1100"/>
              <a:t>sex</a:t>
            </a:r>
            <a:r>
              <a:rPr lang="en-US" sz="1100"/>
              <a:t>, </a:t>
            </a:r>
            <a:r>
              <a:rPr i="1" lang="en-US" sz="1100"/>
              <a:t>smoker</a:t>
            </a:r>
            <a:r>
              <a:rPr lang="en-US" sz="1100"/>
              <a:t>, and </a:t>
            </a:r>
            <a:r>
              <a:rPr i="1" lang="en-US" sz="1100"/>
              <a:t>region</a:t>
            </a:r>
            <a:r>
              <a:rPr lang="en-US" sz="1100"/>
              <a:t> into numeric columns without implying any false ranking between them.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After that, I applied </a:t>
            </a:r>
            <a:r>
              <a:rPr b="1" lang="en-US" sz="1100"/>
              <a:t>feature scaling</a:t>
            </a:r>
            <a:r>
              <a:rPr lang="en-US" sz="1100"/>
              <a:t> using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StandardScaler()</a:t>
            </a:r>
            <a:r>
              <a:rPr lang="en-US" sz="1100"/>
              <a:t> from scikit-learn.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This standardizes all numerical variables to have a mean of zero and unit variance.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Scaling is especially important for Ridge Regression because it uses regularization — if features are on different scales, the penalty term could distort the model weights.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Once preprocessing was done, I </a:t>
            </a:r>
            <a:r>
              <a:rPr b="1" lang="en-US" sz="1100"/>
              <a:t>split the dataset</a:t>
            </a:r>
            <a:r>
              <a:rPr lang="en-US" sz="1100"/>
              <a:t> into training and testing sets using an 80–20 split with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train_test_split</a:t>
            </a:r>
            <a:r>
              <a:rPr lang="en-US" sz="1100"/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This ensures that model evaluation is done on unseen data to measure real performance.</a:t>
            </a:r>
            <a:endParaRPr sz="1100"/>
          </a:p>
        </p:txBody>
      </p:sp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Then, I </a:t>
            </a:r>
            <a:r>
              <a:rPr b="1" lang="en-US" sz="1100"/>
              <a:t>trained a Linear Regression model</a:t>
            </a:r>
            <a:r>
              <a:rPr lang="en-US" sz="1100"/>
              <a:t> using the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LinearRegression()function</a:t>
            </a:r>
            <a:r>
              <a:rPr lang="en-US" sz="1100"/>
              <a:t>. After fitting it on the training data, I predicted on the test set and evaluated performance using </a:t>
            </a:r>
            <a:r>
              <a:rPr b="1" lang="en-US" sz="1100"/>
              <a:t>Mean Squared Error</a:t>
            </a:r>
            <a:r>
              <a:rPr lang="en-US" sz="1100"/>
              <a:t> and </a:t>
            </a:r>
            <a:r>
              <a:rPr b="1" lang="en-US" sz="1100"/>
              <a:t>R-squared score</a:t>
            </a:r>
            <a:r>
              <a:rPr lang="en-US" sz="1100"/>
              <a:t>. </a:t>
            </a:r>
            <a:endParaRPr sz="11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The Linear Regression model gave a strong baseline with a decent R² score.</a:t>
            </a:r>
            <a:endParaRPr sz="11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Finally, I implemented </a:t>
            </a:r>
            <a:r>
              <a:rPr b="1" lang="en-US" sz="1100"/>
              <a:t>Ridge Regression</a:t>
            </a:r>
            <a:r>
              <a:rPr lang="en-US" sz="1100"/>
              <a:t>, which adds an L2 regularization term to control overfitting. I trained multiple Ridge models across different </a:t>
            </a:r>
            <a:r>
              <a:rPr b="1" lang="en-US" sz="1100"/>
              <a:t>alpha values</a:t>
            </a:r>
            <a:r>
              <a:rPr lang="en-US" sz="1100"/>
              <a:t> — for example 0.01, 0.1, 1, 10, and 100 — and compared their MSE and R² scores.</a:t>
            </a:r>
            <a:endParaRPr sz="11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As alpha increased, the model became more stable, reducing variance at the cost of a small increase in bias.</a:t>
            </a:r>
            <a:endParaRPr sz="1100"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I added these visualizations to better understand model performance and feature influence.</a:t>
            </a:r>
            <a:endParaRPr sz="11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The </a:t>
            </a:r>
            <a:r>
              <a:rPr b="1" lang="en-US" sz="1100"/>
              <a:t>residual plot</a:t>
            </a:r>
            <a:r>
              <a:rPr lang="en-US" sz="1100"/>
              <a:t> checks if predictions are unbiased — residuals should scatter randomly around zero.</a:t>
            </a:r>
            <a:endParaRPr sz="11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The </a:t>
            </a:r>
            <a:r>
              <a:rPr b="1" lang="en-US" sz="1100"/>
              <a:t>coefficient plot</a:t>
            </a:r>
            <a:r>
              <a:rPr lang="en-US" sz="1100"/>
              <a:t> shows which features most impact the target after scaling.</a:t>
            </a:r>
            <a:endParaRPr sz="11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Together, they provide clearer insight into </a:t>
            </a:r>
            <a:r>
              <a:rPr b="1" lang="en-US" sz="1100"/>
              <a:t>model fit and feature importance</a:t>
            </a:r>
            <a:r>
              <a:rPr lang="en-US" sz="1100"/>
              <a:t>, complementing metrics like MSE and R²</a:t>
            </a:r>
            <a:endParaRPr sz="11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In our results, both Linear and Ridge Regression achieved nearly identical R² scores.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This happens because our dataset is relatively small and clean, so regularization didn’t make a big difference.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To study the models’ behavior more meaningfully, we extended our analysis by creating </a:t>
            </a:r>
            <a:r>
              <a:rPr b="1" lang="en-US" sz="1100"/>
              <a:t>polynomial features</a:t>
            </a:r>
            <a:r>
              <a:rPr lang="en-US" sz="1100"/>
              <a:t> to expand the feature space.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I’ll now hand over to Sishen, who’ll explain how that helped us compare the two models in greater depth.</a:t>
            </a:r>
            <a:endParaRPr/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1">
  <p:cSld name="タイトル 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i="0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" name="Google Shape;16;p1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7" name="Google Shape;17;p17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7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7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" name="Google Shape;20;p17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議題 1">
  <p:cSld name="議題 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18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3" name="Google Shape;23;p18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8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8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8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8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18"/>
          <p:cNvSpPr txBox="1"/>
          <p:nvPr>
            <p:ph type="title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594359" y="2281918"/>
            <a:ext cx="6787747" cy="37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>
            <a:lvl1pPr indent="-381000" lvl="0" marL="45720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400"/>
              <a:buFont typeface="Arial"/>
              <a:buChar char="•"/>
              <a:defRPr b="1" i="0" sz="2400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2" name="Google Shape;32;p18"/>
          <p:cNvCxnSpPr/>
          <p:nvPr/>
        </p:nvCxnSpPr>
        <p:spPr>
          <a:xfrm>
            <a:off x="594360" y="2148840"/>
            <a:ext cx="2130552" cy="0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概要 2">
  <p:cSld name="概要 2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19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5" name="Google Shape;35;p19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36" name="Google Shape;36;p1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" name="Google Shape;39;p19"/>
          <p:cNvSpPr txBox="1"/>
          <p:nvPr>
            <p:ph type="title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" type="body"/>
          </p:nvPr>
        </p:nvSpPr>
        <p:spPr>
          <a:xfrm>
            <a:off x="3657600" y="2282008"/>
            <a:ext cx="7810500" cy="3699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 2 段組 2">
  <p:cSld name="タイトルと 2 段組 2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20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5" name="Google Shape;45;p20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0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0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8;p20"/>
          <p:cNvSpPr txBox="1"/>
          <p:nvPr>
            <p:ph type="title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" type="body"/>
          </p:nvPr>
        </p:nvSpPr>
        <p:spPr>
          <a:xfrm>
            <a:off x="594360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2" type="body"/>
          </p:nvPr>
        </p:nvSpPr>
        <p:spPr>
          <a:xfrm>
            <a:off x="5881898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3" name="Google Shape;53;p20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 2 段組">
  <p:cSld name="タイトルと 2 段組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1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56" name="Google Shape;56;p21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1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1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21"/>
          <p:cNvSpPr txBox="1"/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0" name="Google Shape;60;p21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" name="Google Shape;61;p21"/>
          <p:cNvSpPr txBox="1"/>
          <p:nvPr>
            <p:ph idx="1" type="body"/>
          </p:nvPr>
        </p:nvSpPr>
        <p:spPr>
          <a:xfrm>
            <a:off x="595523" y="2676525"/>
            <a:ext cx="5746750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2" type="body"/>
          </p:nvPr>
        </p:nvSpPr>
        <p:spPr>
          <a:xfrm>
            <a:off x="7620000" y="2676525"/>
            <a:ext cx="3947160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、コンテンツ、画像">
  <p:cSld name="タイトル、コンテンツ、画像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" type="body"/>
          </p:nvPr>
        </p:nvSpPr>
        <p:spPr>
          <a:xfrm>
            <a:off x="594360" y="3279579"/>
            <a:ext cx="5044440" cy="299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8" name="Google Shape;68;p22"/>
          <p:cNvCxnSpPr/>
          <p:nvPr/>
        </p:nvCxnSpPr>
        <p:spPr>
          <a:xfrm>
            <a:off x="594360" y="2997459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" name="Google Shape;69;p22"/>
          <p:cNvSpPr/>
          <p:nvPr>
            <p:ph idx="2" type="pic"/>
          </p:nvPr>
        </p:nvSpPr>
        <p:spPr>
          <a:xfrm>
            <a:off x="6096000" y="0"/>
            <a:ext cx="611822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2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表 2">
  <p:cSld name="表 2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6" name="Google Shape;76;p23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3">
  <p:cSld name="タイトル 3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4"/>
          <p:cNvSpPr txBox="1"/>
          <p:nvPr>
            <p:ph type="ctrTitle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i="0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9" name="Google Shape;79;p24"/>
          <p:cNvGrpSpPr/>
          <p:nvPr/>
        </p:nvGrpSpPr>
        <p:grpSpPr>
          <a:xfrm rot="10800000">
            <a:off x="6092752" y="0"/>
            <a:ext cx="6099248" cy="6099248"/>
            <a:chOff x="0" y="12289"/>
            <a:chExt cx="3550" cy="3551"/>
          </a:xfrm>
        </p:grpSpPr>
        <p:sp>
          <p:nvSpPr>
            <p:cNvPr id="80" name="Google Shape;80;p24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4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4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24"/>
          <p:cNvSpPr txBox="1"/>
          <p:nvPr>
            <p:ph idx="1" type="body"/>
          </p:nvPr>
        </p:nvSpPr>
        <p:spPr>
          <a:xfrm>
            <a:off x="594360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b="1" i="0" sz="2400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84" name="Google Shape;84;p24"/>
          <p:cNvCxnSpPr/>
          <p:nvPr/>
        </p:nvCxnSpPr>
        <p:spPr>
          <a:xfrm>
            <a:off x="594360" y="39502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のタイトル">
  <p:cSld name="セクションのタイトル">
    <p:bg>
      <p:bgPr>
        <a:solidFill>
          <a:schemeClr val="accent3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5"/>
          <p:cNvSpPr/>
          <p:nvPr>
            <p:ph idx="2" type="pic"/>
          </p:nvPr>
        </p:nvSpPr>
        <p:spPr>
          <a:xfrm>
            <a:off x="0" y="0"/>
            <a:ext cx="12192000" cy="6880543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5"/>
          <p:cNvSpPr txBox="1"/>
          <p:nvPr>
            <p:ph type="title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5"/>
          <p:cNvSpPr/>
          <p:nvPr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2">
  <p:cSld name="タイトル 2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6"/>
          <p:cNvSpPr txBox="1"/>
          <p:nvPr>
            <p:ph type="ctrTitle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i="0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6"/>
          <p:cNvSpPr/>
          <p:nvPr>
            <p:ph idx="2" type="pic"/>
          </p:nvPr>
        </p:nvSpPr>
        <p:spPr>
          <a:xfrm>
            <a:off x="0" y="-11113"/>
            <a:ext cx="5791200" cy="6880226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6"/>
          <p:cNvSpPr txBox="1"/>
          <p:nvPr>
            <p:ph idx="1" type="body"/>
          </p:nvPr>
        </p:nvSpPr>
        <p:spPr>
          <a:xfrm>
            <a:off x="6299835" y="456860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b="1" i="0" sz="2400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93" name="Google Shape;93;p26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​​">
  <p:cSld name="タイトル​​"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 txBox="1"/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i="0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6" name="Google Shape;96;p2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97" name="Google Shape;97;p27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7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7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0" name="Google Shape;100;p27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27"/>
          <p:cNvSpPr txBox="1"/>
          <p:nvPr>
            <p:ph idx="1" type="body"/>
          </p:nvPr>
        </p:nvSpPr>
        <p:spPr>
          <a:xfrm>
            <a:off x="6309905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b="1" i="0" sz="2400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 ">
  <p:cSld name="タイトルとコンテンツ 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8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04" name="Google Shape;104;p28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8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8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8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8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28"/>
          <p:cNvSpPr txBox="1"/>
          <p:nvPr>
            <p:ph type="title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0" name="Google Shape;110;p28"/>
          <p:cNvCxnSpPr/>
          <p:nvPr/>
        </p:nvCxnSpPr>
        <p:spPr>
          <a:xfrm>
            <a:off x="6347460" y="631317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28"/>
          <p:cNvSpPr txBox="1"/>
          <p:nvPr>
            <p:ph idx="1" type="body"/>
          </p:nvPr>
        </p:nvSpPr>
        <p:spPr>
          <a:xfrm>
            <a:off x="603885" y="457201"/>
            <a:ext cx="5198269" cy="230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eriod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arenR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8"/>
          <p:cNvSpPr txBox="1"/>
          <p:nvPr>
            <p:ph idx="2" type="body"/>
          </p:nvPr>
        </p:nvSpPr>
        <p:spPr>
          <a:xfrm>
            <a:off x="594360" y="2810595"/>
            <a:ext cx="5198269" cy="3319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28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、コンテンツ、表">
  <p:cSld name="タイトル、コンテンツ、表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29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17" name="Google Shape;117;p2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9"/>
          <p:cNvSpPr txBox="1"/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1" name="Google Shape;121;p29"/>
          <p:cNvCxnSpPr/>
          <p:nvPr/>
        </p:nvCxnSpPr>
        <p:spPr>
          <a:xfrm>
            <a:off x="3670935" y="6313170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29"/>
          <p:cNvSpPr txBox="1"/>
          <p:nvPr>
            <p:ph idx="1" type="body"/>
          </p:nvPr>
        </p:nvSpPr>
        <p:spPr>
          <a:xfrm>
            <a:off x="603885" y="584005"/>
            <a:ext cx="2825115" cy="3999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2743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2" type="body"/>
          </p:nvPr>
        </p:nvSpPr>
        <p:spPr>
          <a:xfrm>
            <a:off x="3670934" y="584005"/>
            <a:ext cx="7926705" cy="3999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9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idx="1" type="body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2" type="sldNum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>
            <p:ph type="ctrTitle"/>
          </p:nvPr>
        </p:nvSpPr>
        <p:spPr>
          <a:xfrm>
            <a:off x="4313903" y="411478"/>
            <a:ext cx="7482401" cy="36811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Predicting Medical　Insurance Costs with </a:t>
            </a:r>
            <a:r>
              <a:rPr b="1" i="0" lang="en-US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4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Ridge</a:t>
            </a: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Regression</a:t>
            </a:r>
            <a:b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5456903" y="4439265"/>
            <a:ext cx="489646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Presenters: ZHANG SISHEN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SYARAH ZAFIRA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XU CHENGJUN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"/>
          <p:cNvSpPr txBox="1"/>
          <p:nvPr>
            <p:ph type="title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 Outline</a:t>
            </a:r>
            <a:endParaRPr b="1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 txBox="1"/>
          <p:nvPr>
            <p:ph idx="1" type="body"/>
          </p:nvPr>
        </p:nvSpPr>
        <p:spPr>
          <a:xfrm>
            <a:off x="593725" y="2281238"/>
            <a:ext cx="6788150" cy="3709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200">
            <a:normAutofit/>
          </a:bodyPr>
          <a:lstStyle/>
          <a:p>
            <a:pPr indent="-283464" lvl="0" marL="28346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2400"/>
              <a:buChar char="•"/>
            </a:pPr>
            <a:r>
              <a:rPr b="1" i="0" lang="en-US" sz="2400" u="none" cap="none" strike="noStrike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rPr>
              <a:t>Dataset Intro</a:t>
            </a:r>
            <a:endParaRPr b="1" i="0" sz="2400" u="none" cap="none" strike="noStrike">
              <a:solidFill>
                <a:srgbClr val="5D7C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464" lvl="0" marL="283464" rtl="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400"/>
              <a:buChar char="•"/>
            </a:pPr>
            <a:r>
              <a:rPr b="1" i="0" lang="en-US" sz="2400" u="none" cap="none" strike="noStrike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rPr>
              <a:t>Analysis Approach</a:t>
            </a:r>
            <a:endParaRPr b="1" i="0" sz="2400" u="none" cap="none" strike="noStrike">
              <a:solidFill>
                <a:srgbClr val="5D7C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464" lvl="0" marL="283464" rtl="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400"/>
              <a:buChar char="•"/>
            </a:pPr>
            <a:r>
              <a:rPr b="1" i="0" lang="en-US" sz="2400" u="none" cap="none" strike="noStrike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1" i="0" sz="2400" u="none" cap="none" strike="noStrike">
              <a:solidFill>
                <a:srgbClr val="5D7C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464" lvl="0" marL="283464" rtl="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400"/>
              <a:buChar char="•"/>
            </a:pPr>
            <a:r>
              <a:rPr b="1" i="0" lang="en-US" sz="2400" u="none" cap="none" strike="noStrike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i="0" sz="2400" u="none" cap="none" strike="noStrike">
              <a:solidFill>
                <a:srgbClr val="5D7C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5D7C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>
            <p:ph type="title"/>
          </p:nvPr>
        </p:nvSpPr>
        <p:spPr>
          <a:xfrm>
            <a:off x="491121" y="433888"/>
            <a:ext cx="10873740" cy="7666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Dataset Introduction</a:t>
            </a:r>
            <a:endParaRPr b="1" i="0" sz="4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 txBox="1"/>
          <p:nvPr>
            <p:ph idx="1" type="body"/>
          </p:nvPr>
        </p:nvSpPr>
        <p:spPr>
          <a:xfrm>
            <a:off x="1302159" y="1401097"/>
            <a:ext cx="9587681" cy="5169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600">
            <a:normAutofit fontScale="85000" lnSpcReduction="20000"/>
          </a:bodyPr>
          <a:lstStyle/>
          <a:p>
            <a:pPr indent="-283464" lvl="0" marL="28346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"Medical Cost Personal Dataset" from Kaggle </a:t>
            </a:r>
            <a:endParaRPr/>
          </a:p>
          <a:p>
            <a:pPr indent="-283464" lvl="0" marL="283464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Characteristics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3464" lvl="1" marL="6858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Contains 1,338 observations of insurance beneficiaries.</a:t>
            </a:r>
            <a:endParaRPr/>
          </a:p>
          <a:p>
            <a:pPr indent="-283464" lvl="1" marL="6858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age, sex, bmi, children, smoker, region</a:t>
            </a:r>
            <a:endParaRPr/>
          </a:p>
          <a:p>
            <a:pPr indent="-283464" lvl="1" marL="6858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Variable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charges (medical insurance cost)</a:t>
            </a:r>
            <a:endParaRPr/>
          </a:p>
          <a:p>
            <a:pPr indent="-283464" lvl="0" marL="283464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Reason for Selection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3464" lvl="1" marL="6858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dataset is suitable for regression as it includes both numerical (age, bmi) and categorical (sex, smoker) features, with a continuous target variable (charges).</a:t>
            </a:r>
            <a:endParaRPr/>
          </a:p>
          <a:p>
            <a:pPr indent="-175514" lvl="0" marL="283464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5514" lvl="0" marL="283464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3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48" name="Google Shape;148;p3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type="title"/>
          </p:nvPr>
        </p:nvSpPr>
        <p:spPr>
          <a:xfrm>
            <a:off x="505869" y="353960"/>
            <a:ext cx="10444807" cy="71084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Exploratory Data Analysis (EDA)</a:t>
            </a:r>
            <a:endParaRPr b="1" i="0" sz="4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>
            <p:ph idx="1" type="body"/>
          </p:nvPr>
        </p:nvSpPr>
        <p:spPr>
          <a:xfrm>
            <a:off x="594360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/>
          <a:p>
            <a:pPr indent="-283464" lvl="1" marL="28346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Purpose: To understand the data's characteristics and form hypotheses about key predictive variables.</a:t>
            </a:r>
            <a:endParaRPr/>
          </a:p>
          <a:p>
            <a:pPr indent="-283464" lvl="1" marL="283464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Insight:Smoker status is the most significant predictor of higher costs Charges also show an increasing trend with age.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3111293"/>
            <a:ext cx="4491037" cy="316270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"/>
          <p:cNvSpPr/>
          <p:nvPr/>
        </p:nvSpPr>
        <p:spPr>
          <a:xfrm>
            <a:off x="9048135" y="3212991"/>
            <a:ext cx="604684" cy="584127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9048135" y="4757366"/>
            <a:ext cx="604684" cy="584127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6315" y="1166499"/>
            <a:ext cx="5181392" cy="1920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Data Preprocessing</a:t>
            </a:r>
            <a:endParaRPr b="1" i="0" sz="4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5" title="Screenshot 2025-10-17 at 11.50.1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38" y="1170213"/>
            <a:ext cx="8391725" cy="11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5" title="Screenshot 2025-10-17 at 11.51.3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338" y="2630398"/>
            <a:ext cx="5330076" cy="3666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 txBox="1"/>
          <p:nvPr>
            <p:ph type="title"/>
          </p:nvPr>
        </p:nvSpPr>
        <p:spPr>
          <a:xfrm>
            <a:off x="668102" y="263567"/>
            <a:ext cx="6787747" cy="6032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Data Preprocessing</a:t>
            </a:r>
            <a:endParaRPr b="1" i="0" sz="4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 txBox="1"/>
          <p:nvPr>
            <p:ph idx="1" type="body"/>
          </p:nvPr>
        </p:nvSpPr>
        <p:spPr>
          <a:xfrm>
            <a:off x="540650" y="2971800"/>
            <a:ext cx="11428200" cy="3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200">
            <a:norm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i="0" lang="en-US" sz="2265" u="none" cap="none" strike="noStrike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rPr>
              <a:t>Steps Taken:</a:t>
            </a:r>
            <a:endParaRPr sz="1840"/>
          </a:p>
          <a:p>
            <a:pPr indent="-451993" lvl="0" marL="457200" marR="0" rtl="0" algn="l">
              <a:lnSpc>
                <a:spcPct val="6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165"/>
              <a:buFont typeface="Arial"/>
              <a:buAutoNum type="arabicPeriod"/>
            </a:pPr>
            <a:r>
              <a:rPr b="1" i="0" lang="en-US" sz="2165" u="none" cap="none" strike="noStrike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rPr>
              <a:t>Categorical Variable Encoding:</a:t>
            </a:r>
            <a:endParaRPr sz="1740"/>
          </a:p>
          <a:p>
            <a:pPr indent="-451993" lvl="1" marL="859536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Converted sex, smoker, and region into numerical format using</a:t>
            </a:r>
            <a:r>
              <a:rPr lang="en-US" sz="2165"/>
              <a:t> </a:t>
            </a:r>
            <a:r>
              <a:rPr b="1" i="0" lang="en-US" sz="21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One-Hot Encoding</a:t>
            </a:r>
            <a:r>
              <a:rPr b="0" i="0" lang="en-US" sz="21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/>
          </a:p>
          <a:p>
            <a:pPr indent="-451993" lvl="0" marL="457200" marR="0" rtl="0" algn="l">
              <a:lnSpc>
                <a:spcPct val="6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165"/>
              <a:buFont typeface="Arial"/>
              <a:buAutoNum type="arabicPeriod"/>
            </a:pPr>
            <a:r>
              <a:rPr b="1" i="0" lang="en-US" sz="2165" u="none" cap="none" strike="noStrike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rPr>
              <a:t>Numerical Feature Scaling:</a:t>
            </a:r>
            <a:endParaRPr sz="1740"/>
          </a:p>
          <a:p>
            <a:pPr indent="-451993" lvl="1" marL="859536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</a:t>
            </a:r>
            <a:r>
              <a:rPr b="1" i="0" lang="en-US" sz="21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StandardScaler</a:t>
            </a:r>
            <a:r>
              <a:rPr b="0" i="0" lang="en-US" sz="21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standardize the scale of numerical features.</a:t>
            </a:r>
            <a:endParaRPr sz="1400"/>
          </a:p>
          <a:p>
            <a:pPr indent="-451993" lvl="1" marL="859536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5"/>
              <a:buFont typeface="Arial"/>
              <a:buChar char="•"/>
            </a:pPr>
            <a:r>
              <a:rPr b="1" i="0" lang="en-US" sz="21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is this important?</a:t>
            </a:r>
            <a:r>
              <a:rPr b="0" i="0" lang="en-US" sz="21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For regularized models like Ridge Regression, it ensures that the penalty is applied fairly across all features .</a:t>
            </a:r>
            <a:endParaRPr sz="1400"/>
          </a:p>
          <a:p>
            <a:pPr indent="-451993" lvl="0" marL="457200" marR="0" rtl="0" algn="l">
              <a:lnSpc>
                <a:spcPct val="6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165"/>
              <a:buFont typeface="Arial"/>
              <a:buAutoNum type="arabicPeriod"/>
            </a:pPr>
            <a:r>
              <a:rPr b="1" i="0" lang="en-US" sz="2165" u="none" cap="none" strike="noStrike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rPr>
              <a:t>Data Splitting:</a:t>
            </a:r>
            <a:endParaRPr sz="1740"/>
          </a:p>
          <a:p>
            <a:pPr indent="-451993" lvl="1" marL="859536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 the dataset into an 80% training set and a 20% testing set.</a:t>
            </a:r>
            <a:endParaRPr b="1" i="0" sz="1740" u="none" cap="none" strike="noStrike">
              <a:solidFill>
                <a:srgbClr val="5D7C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6095999" y="380525"/>
            <a:ext cx="542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Purpose: To prepare the data for model training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6" title="Screenshot 2025-10-17 at 11.52.2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650" y="979700"/>
            <a:ext cx="9223201" cy="22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8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85" name="Google Shape;185;p8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" name="Google Shape;188;p8"/>
          <p:cNvSpPr txBox="1"/>
          <p:nvPr>
            <p:ph type="title"/>
          </p:nvPr>
        </p:nvSpPr>
        <p:spPr>
          <a:xfrm>
            <a:off x="405300" y="224201"/>
            <a:ext cx="113814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Model Implementation &amp; Evaluation Metrics</a:t>
            </a:r>
            <a:endParaRPr b="1" i="0" sz="36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 txBox="1"/>
          <p:nvPr>
            <p:ph idx="1" type="body"/>
          </p:nvPr>
        </p:nvSpPr>
        <p:spPr>
          <a:xfrm>
            <a:off x="5521650" y="1649175"/>
            <a:ext cx="6578100" cy="3478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526" r="0" t="0"/>
            </a:stretch>
          </a:blipFill>
          <a:ln>
            <a:noFill/>
          </a:ln>
        </p:spPr>
        <p:txBody>
          <a:bodyPr anchorCtr="0" anchor="t" bIns="0" lIns="0" spcFirstLastPara="1" rIns="0" wrap="square" tIns="2286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 </a:t>
            </a:r>
            <a:endParaRPr sz="1600"/>
          </a:p>
        </p:txBody>
      </p:sp>
      <p:pic>
        <p:nvPicPr>
          <p:cNvPr id="190" name="Google Shape;190;p8"/>
          <p:cNvPicPr preferRelativeResize="0"/>
          <p:nvPr/>
        </p:nvPicPr>
        <p:blipFill rotWithShape="1">
          <a:blip r:embed="rId4">
            <a:alphaModFix/>
          </a:blip>
          <a:srcRect b="0" l="0" r="13614" t="10722"/>
          <a:stretch/>
        </p:blipFill>
        <p:spPr>
          <a:xfrm>
            <a:off x="191450" y="804700"/>
            <a:ext cx="5330200" cy="223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8"/>
          <p:cNvPicPr preferRelativeResize="0"/>
          <p:nvPr/>
        </p:nvPicPr>
        <p:blipFill rotWithShape="1">
          <a:blip r:embed="rId5">
            <a:alphaModFix/>
          </a:blip>
          <a:srcRect b="0" l="0" r="22209" t="0"/>
          <a:stretch/>
        </p:blipFill>
        <p:spPr>
          <a:xfrm>
            <a:off x="201525" y="3347350"/>
            <a:ext cx="5464351" cy="338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 txBox="1"/>
          <p:nvPr>
            <p:ph type="title"/>
          </p:nvPr>
        </p:nvSpPr>
        <p:spPr>
          <a:xfrm>
            <a:off x="575300" y="278125"/>
            <a:ext cx="112356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Model Implementation &amp; Evaluation Metrics</a:t>
            </a:r>
            <a:endParaRPr b="1" i="0" sz="37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300" y="843643"/>
            <a:ext cx="4503226" cy="291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8150" y="3658428"/>
            <a:ext cx="5338350" cy="3029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300" y="3745514"/>
            <a:ext cx="4569725" cy="31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8150" y="820625"/>
            <a:ext cx="4989124" cy="283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/>
          <p:nvPr>
            <p:ph type="title"/>
          </p:nvPr>
        </p:nvSpPr>
        <p:spPr>
          <a:xfrm>
            <a:off x="542740" y="420329"/>
            <a:ext cx="10972800" cy="68871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Results &amp; Model Comparison</a:t>
            </a:r>
            <a:endParaRPr b="1" i="0" sz="4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>
            <p:ph idx="1" type="body"/>
          </p:nvPr>
        </p:nvSpPr>
        <p:spPr>
          <a:xfrm>
            <a:off x="595523" y="2676525"/>
            <a:ext cx="5746750" cy="3597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on a Single Train/Test Split: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Analysis:In this specific split, both models performed similarly. However, Linear Regression is generally more prone to overfitting the training data compared to Ridge Regression.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2067" y="2366809"/>
            <a:ext cx="5111447" cy="347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 txBox="1"/>
          <p:nvPr>
            <p:ph type="title"/>
          </p:nvPr>
        </p:nvSpPr>
        <p:spPr>
          <a:xfrm>
            <a:off x="542740" y="73743"/>
            <a:ext cx="10972800" cy="10353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Demonstrating Overfitting with Polynomial Features</a:t>
            </a:r>
            <a:endParaRPr b="1" i="0" sz="40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579" y="1806677"/>
            <a:ext cx="6511421" cy="470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12" y="2857955"/>
            <a:ext cx="5919485" cy="314270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 txBox="1"/>
          <p:nvPr/>
        </p:nvSpPr>
        <p:spPr>
          <a:xfrm>
            <a:off x="345724" y="2488623"/>
            <a:ext cx="30779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Degree=4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 txBox="1"/>
          <p:nvPr>
            <p:ph type="title"/>
          </p:nvPr>
        </p:nvSpPr>
        <p:spPr>
          <a:xfrm>
            <a:off x="595522" y="125175"/>
            <a:ext cx="10972800" cy="68871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Hyperparameter Tuning</a:t>
            </a:r>
            <a:endParaRPr b="1" i="0" sz="4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 txBox="1"/>
          <p:nvPr>
            <p:ph idx="1" type="body"/>
          </p:nvPr>
        </p:nvSpPr>
        <p:spPr>
          <a:xfrm>
            <a:off x="213852" y="1224115"/>
            <a:ext cx="6975987" cy="54421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To find the optimal regularization parameter α that maximizes the performance of the Ridge Regression model.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Used GridSearchCV to evaluate performance across a range of α values ([0.01, 0.1, 1, 10, 100]).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Relationship between Alpha and Performance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15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As α increases, regularization becomes stronger, which can lead to underfitting (increased bias) and lower performance. We found α=10 to be the optimal value in our test.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0275" y="57000"/>
            <a:ext cx="3671725" cy="443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501" y="4362600"/>
            <a:ext cx="3671726" cy="230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 txBox="1"/>
          <p:nvPr>
            <p:ph type="title"/>
          </p:nvPr>
        </p:nvSpPr>
        <p:spPr>
          <a:xfrm>
            <a:off x="595522" y="125175"/>
            <a:ext cx="10972800" cy="68871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The Role of Cross-Validation </a:t>
            </a:r>
            <a:endParaRPr b="1" i="0" sz="4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 txBox="1"/>
          <p:nvPr>
            <p:ph idx="1" type="body"/>
          </p:nvPr>
        </p:nvSpPr>
        <p:spPr>
          <a:xfrm>
            <a:off x="213852" y="1224115"/>
            <a:ext cx="6975987" cy="54421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To obtain a more reliable and robust measure of model performance, independent of a single data split.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Implemented 5-Fold Cross-Validation.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R² Score from Cross-Validation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342900" lvl="1" marL="10287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Regression: 0.7402</a:t>
            </a:r>
            <a:endParaRPr/>
          </a:p>
          <a:p>
            <a:pPr indent="-342900" lvl="1" marL="10287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Ridge Regression (α=10): 0.7403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:The cross-validation results confirm that Ridge Regression provides slightly more consistent and higher performance, indicating better generalization ability.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9839" y="2122878"/>
            <a:ext cx="4679631" cy="2404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/>
          <p:nvPr>
            <p:ph type="title"/>
          </p:nvPr>
        </p:nvSpPr>
        <p:spPr>
          <a:xfrm>
            <a:off x="498495" y="258096"/>
            <a:ext cx="10972800" cy="5559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Conclusion &amp; Key Insights</a:t>
            </a:r>
            <a:endParaRPr b="1" i="0" sz="4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3"/>
          <p:cNvSpPr txBox="1"/>
          <p:nvPr/>
        </p:nvSpPr>
        <p:spPr>
          <a:xfrm>
            <a:off x="162233" y="1336925"/>
            <a:ext cx="11202873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 of Key Insights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(from README.md):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Strongest Predictor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Smoker status was the most influential feature for predicting medical costs.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Performance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Ridge Regression demonstrated better generalization by preventing overfitting through regularization 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Importance of Alpha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Tuning the alpha parameter is crucial for balancing the bias-variance tradeoff in Ridge Regression.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 of Cross-Validation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Cross-validation provides a more robust evaluation of a model's true performance compared to a single train-test split.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Further work could involve exploring other regularization techniques like Lasso or more complex models like Gradient Boosting.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"/>
          <p:cNvSpPr txBox="1"/>
          <p:nvPr>
            <p:ph type="title"/>
          </p:nvPr>
        </p:nvSpPr>
        <p:spPr>
          <a:xfrm>
            <a:off x="498495" y="258096"/>
            <a:ext cx="10972800" cy="5559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Team Member Contributions</a:t>
            </a:r>
            <a:endParaRPr b="1" i="0" sz="4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4"/>
          <p:cNvSpPr txBox="1"/>
          <p:nvPr/>
        </p:nvSpPr>
        <p:spPr>
          <a:xfrm>
            <a:off x="140111" y="1307429"/>
            <a:ext cx="112029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</a:rPr>
              <a:t>XU CHENGJUN </a:t>
            </a:r>
            <a:r>
              <a:rPr b="1" lang="en-US" sz="1700">
                <a:solidFill>
                  <a:schemeClr val="dk1"/>
                </a:solidFill>
              </a:rPr>
              <a:t>[slides 1-4, 13]</a:t>
            </a:r>
            <a:r>
              <a:rPr b="1" lang="en-US" sz="2400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</a:rPr>
              <a:t>Contributions</a:t>
            </a:r>
            <a:r>
              <a:rPr lang="en-US" sz="2400">
                <a:solidFill>
                  <a:schemeClr val="dk1"/>
                </a:solidFill>
              </a:rPr>
              <a:t>: Responsible for creating the markdown text in Jupyter Notebook to explain the data and the </a:t>
            </a:r>
            <a:r>
              <a:rPr lang="en-US" sz="1800">
                <a:solidFill>
                  <a:schemeClr val="dk1"/>
                </a:solidFill>
              </a:rPr>
              <a:t>README.md</a:t>
            </a:r>
            <a:r>
              <a:rPr lang="en-US" sz="2400">
                <a:solidFill>
                  <a:schemeClr val="dk1"/>
                </a:solidFill>
              </a:rPr>
              <a:t> file, which documents the project overview, dataset details, steps taken, and key insights.</a:t>
            </a:r>
            <a:endParaRPr b="1" sz="24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SYARAH ZAFIRA</a:t>
            </a:r>
            <a:r>
              <a:rPr b="1" lang="en-US" sz="1700">
                <a:solidFill>
                  <a:schemeClr val="dk1"/>
                </a:solidFill>
              </a:rPr>
              <a:t>[slides 5-9]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Contributions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Responsible for writing the majority of the Python code, including data preprocessing, model training (Linear and Ridge), and evaluation scripts.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ZHANG SISHEN</a:t>
            </a:r>
            <a:r>
              <a:rPr b="1" lang="en-US" sz="1700">
                <a:solidFill>
                  <a:schemeClr val="dk1"/>
                </a:solidFill>
              </a:rPr>
              <a:t>[slides 10 - 12]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Contributions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Responsible for creating the presentation slides and conducting the analysis on model overfitting, comparing the performance of Linear and Ridge regression.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"/>
          <p:cNvSpPr txBox="1"/>
          <p:nvPr>
            <p:ph type="ctrTitle"/>
          </p:nvPr>
        </p:nvSpPr>
        <p:spPr>
          <a:xfrm>
            <a:off x="609108" y="2389239"/>
            <a:ext cx="6285764" cy="7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i="0" sz="60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471948" y="4600251"/>
            <a:ext cx="489646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ZHANG SISHEN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SYARAH ZAFIRA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XU CHENGJUN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ユーザー設定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2025-10-14T13:37:54Z</dcterms:created>
  <dc:creator>S242822076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